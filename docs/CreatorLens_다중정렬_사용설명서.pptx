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CreatorLens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다중 정렬 사용설명서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828800" y="320040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AAAAA"/>
                </a:solidFill>
              </a:rPr>
              <a:t>원하는 기준을 여러 개 조합해서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AAAAA"/>
                </a:solidFill>
              </a:rPr>
              <a:t>최적의 영상을 찾으세요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0" y="457200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1A12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4572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F33"/>
                </a:solidFill>
              </a:rPr>
              <a:t>1  조회수 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0" y="457200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1A12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0" y="4572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F33"/>
                </a:solidFill>
              </a:rPr>
              <a:t>2  구독자 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457200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1A12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4572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F33"/>
                </a:solidFill>
              </a:rPr>
              <a:t>3  성과도 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CreatorLens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정렬 가능한 항목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총 7가지 기준으로 정렬할 수 있어요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468880" cy="1920240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 w="6350">
            <a:solidFill>
              <a:srgbClr val="2C2C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👁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5E5"/>
                </a:solidFill>
              </a:rPr>
              <a:t>조회수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영상이 얼마나 많이 봤는지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645920"/>
            <a:ext cx="2468880" cy="1920240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 w="6350">
            <a:solidFill>
              <a:srgbClr val="2C2C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11880" y="2377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5E5"/>
                </a:solidFill>
              </a:rPr>
              <a:t>구독자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채널의 구독자 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2468880" cy="1920240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 w="6350">
            <a:solidFill>
              <a:srgbClr val="2C2C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09360" y="2377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5E5"/>
                </a:solidFill>
              </a:rPr>
              <a:t>기여도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조회수 / 구독자 비율 (터진 영상 판별)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23960" y="1645920"/>
            <a:ext cx="2468880" cy="1920240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 w="6350">
            <a:solidFill>
              <a:srgbClr val="2C2C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06840" y="2377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5E5"/>
                </a:solidFill>
              </a:rPr>
              <a:t>성과도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06840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좋아요+댓글+조회수 종합 점수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931920"/>
            <a:ext cx="2468880" cy="1920240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 w="6350">
            <a:solidFill>
              <a:srgbClr val="2C2C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🎬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4663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5E5"/>
                </a:solidFill>
              </a:rPr>
              <a:t>총영상수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5029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채널의 총 영상 개수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29000" y="3931920"/>
            <a:ext cx="2468880" cy="1920240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 w="6350">
            <a:solidFill>
              <a:srgbClr val="2C2C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611880" y="4663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5E5"/>
                </a:solidFill>
              </a:rPr>
              <a:t>게시일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611880" y="5029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영상 업로드 날짜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931920"/>
            <a:ext cx="2468880" cy="1920240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 w="6350">
            <a:solidFill>
              <a:srgbClr val="2C2C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309360" y="4663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5E5"/>
                </a:solidFill>
              </a:rPr>
              <a:t>노출확률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09360" y="5029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내가 이 키워드로 노출될 확률 예측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CreatorLens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사용법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컬럼 헤더를 클릭하면 3단계로 바뀌어요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5E5"/>
                </a:solidFill>
              </a:rPr>
              <a:t>첫 번째 클릭 → 높은순(↑) 추가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아직 정렬에 없는 항목을 클릭하면,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높은 값이 위에 오는 순서(내림차순)로 추가됩니다.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160020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111111"/>
          </a:solidFill>
          <a:ln w="6350">
            <a:solidFill>
              <a:srgbClr val="2C2C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6002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F33"/>
                </a:solidFill>
              </a:rPr>
              <a:t>예: 조회수 100만 → 50만 → 10만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5E5"/>
                </a:solidFill>
              </a:rPr>
              <a:t>두 번째 클릭 → 낮은순(↓) 전환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5204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이미 높은순인 항목을 다시 클릭하면,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낮은 값이 위에 오는 순서(오름차순)로 바뀝니다.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315468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111111"/>
          </a:solidFill>
          <a:ln w="6350">
            <a:solidFill>
              <a:srgbClr val="2C2C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31546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F33"/>
                </a:solidFill>
              </a:rPr>
              <a:t>예: 조회수 10만 → 50만 → 100만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754880"/>
            <a:ext cx="502920" cy="50292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6304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5E5"/>
                </a:solidFill>
              </a:rPr>
              <a:t>세 번째 클릭 → 제거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5074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이미 낮은순인 항목을 다시 클릭하면,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정렬 기준에서 완전히 사라집니다.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0" y="470916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111111"/>
          </a:solidFill>
          <a:ln w="6350">
            <a:solidFill>
              <a:srgbClr val="2C2C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4709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F33"/>
                </a:solidFill>
              </a:rPr>
              <a:t>또는 태그의 x 버튼으로 개별 제거 가능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603504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1A12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6035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클릭!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60350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606040" y="603504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6035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AAAA"/>
                </a:solidFill>
              </a:rPr>
              <a:t>높은순 ↑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77640" y="60350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297680" y="603504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1A12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6035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클릭!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60350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989320" y="603504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6035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AAAA"/>
                </a:solidFill>
              </a:rPr>
              <a:t>낮은순 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60920" y="60350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80960" y="603504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1A12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6035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클릭!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052560" y="60350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372600" y="603504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1A1A1A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72600" y="6035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AAAA"/>
                </a:solidFill>
              </a:rPr>
              <a:t>제거됨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CreatorLens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실전 데모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이렇게 동작합니다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</a:rPr>
              <a:t>정렬 전 (기본 상태)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정렬: 없음 (검색 관련성 순)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4572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91440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66666"/>
                          </a:solidFill>
                        </a:rPr>
                        <a:t>영상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66666"/>
                          </a:solidFill>
                        </a:rPr>
                        <a:t>조회수 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66666"/>
                          </a:solidFill>
                        </a:rPr>
                        <a:t>구독자 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66666"/>
                          </a:solidFill>
                        </a:rPr>
                        <a:t>성과도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먹방 브이로그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E5E5"/>
                          </a:solidFill>
                        </a:rPr>
                        <a:t>50만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30만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보통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ASMR 치킨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E5E5"/>
                          </a:solidFill>
                        </a:rPr>
                        <a:t>200만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100만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좋음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길거리 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E5E5"/>
                          </a:solidFill>
                        </a:rPr>
                        <a:t>10만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5만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매우좋음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F33"/>
                </a:solidFill>
              </a:rPr>
              <a:t>① 조회수 클릭 → ② 구독자 클릭 (다중 정렬!)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0" y="1737360"/>
            <a:ext cx="1280160" cy="292608"/>
          </a:xfrm>
          <a:prstGeom prst="roundRect">
            <a:avLst>
              <a:gd name="adj" fmla="val 46875"/>
            </a:avLst>
          </a:prstGeom>
          <a:solidFill>
            <a:srgbClr val="1A1200"/>
          </a:solidFill>
          <a:ln w="6350">
            <a:solidFill>
              <a:srgbClr val="FF6B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17373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F33"/>
                </a:solidFill>
              </a:rPr>
              <a:t>1  조회수 ↑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321040" y="1737360"/>
            <a:ext cx="1280160" cy="292608"/>
          </a:xfrm>
          <a:prstGeom prst="roundRect">
            <a:avLst>
              <a:gd name="adj" fmla="val 46875"/>
            </a:avLst>
          </a:prstGeom>
          <a:solidFill>
            <a:srgbClr val="1A1200"/>
          </a:solidFill>
          <a:ln w="6350">
            <a:solidFill>
              <a:srgbClr val="FF6B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21040" y="17373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F33"/>
                </a:solidFill>
              </a:rPr>
              <a:t>2  구독자 ↑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0" y="1737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정렬:</a:t>
            </a:r>
            <a:endParaRPr lang="en-US" sz="10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103120"/>
          <a:ext cx="5303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66666"/>
                          </a:solidFill>
                        </a:rPr>
                        <a:t>영상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00"/>
                          </a:solidFill>
                        </a:rPr>
                        <a:t>조회수 ① 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00"/>
                          </a:solidFill>
                        </a:rPr>
                        <a:t>구독자 ② 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00"/>
                          </a:solidFill>
                        </a:rPr>
                        <a:t>종합점수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🥇 ASMR 치킨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E5E5"/>
                          </a:solidFill>
                        </a:rPr>
                        <a:t>200만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5E5E5"/>
                          </a:solidFill>
                        </a:rPr>
                        <a:t>100만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2.0점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🥈 먹방 브이로그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E5E5"/>
                          </a:solidFill>
                        </a:rPr>
                        <a:t>50만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30만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1.0점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🥉 길거리 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E5E5"/>
                          </a:solidFill>
                        </a:rPr>
                        <a:t>10만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</a:rPr>
                        <a:t>5만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0.0점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731520" y="5029200"/>
            <a:ext cx="10698480" cy="109728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05840" y="51206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60A5FA"/>
                </a:solidFill>
              </a:rPr>
              <a:t>ℹ️  핵심 포인트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5E5E5"/>
                </a:solidFill>
              </a:rPr>
              <a:t>숫자 ①②는 "클릭한 순서"이지 "우선순위"가 아닙니다!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두 기준이 동등한 비중으로 합산되어 종합 랭킹이 만들어집니다.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CreatorLens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원리 이해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단일 정렬과 다중 정렬은 다르게 동작해요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4754880" cy="22860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기준 1개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5E5"/>
                </a:solidFill>
              </a:rPr>
              <a:t>단일 정렬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AAAA"/>
                </a:solidFill>
              </a:rPr>
              <a:t>해당 값을 기준으로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AAAA"/>
                </a:solidFill>
              </a:rPr>
              <a:t>직접 크기 비교하여 정렬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AAAA"/>
                </a:solidFill>
              </a:rPr>
              <a:t>예: 조회수 ↑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AAAA"/>
                </a:solidFill>
              </a:rPr>
              <a:t>200만 → 50만 → 10만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66666"/>
                </a:solidFill>
              </a:rPr>
              <a:t>≠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기준 2개+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5E5"/>
                </a:solidFill>
              </a:rPr>
              <a:t>다중 정렬 (종합 점수)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256032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AAAA"/>
                </a:solidFill>
              </a:rPr>
              <a:t>각 기준의 값을 0~1로 변환 후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AAAA"/>
                </a:solidFill>
              </a:rPr>
              <a:t>합산한 종합 점수로 정렬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AAAA"/>
                </a:solidFill>
              </a:rPr>
              <a:t>예: 조회수↑ + 구독자↑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AAAA"/>
                </a:solidFill>
              </a:rPr>
              <a:t>점수 2.0 → 1.0 → 0.0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4754880" cy="164592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이것이 아닙니다 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8463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일반적인 다중 정렬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조회수로 먼저 정렬하고,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조회수가 같을 때만 구독자로 정렬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4846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66666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217920" y="4389120"/>
            <a:ext cx="5029200" cy="1645920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CreatorLens 방식 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484632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종합 랭킹 정렬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조회수와 구독자를 모두 고려해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종합적으로 뛰어난 영상을 위로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CreatorLens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계산 원리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종합 점수는 이렇게 계산됩니다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0D1710"/>
          </a:solidFill>
          <a:ln w="12700">
            <a:solidFill>
              <a:srgbClr val="1F5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173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0B981"/>
                </a:solidFill>
              </a:rPr>
              <a:t>🎓  비유: 학교 성적표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국어 95점, 수학 80점 → 만점이 다르면 그냥 합산하면 안 됨 → 모든 과목을 0~1 사이로 맞춘 다음 합산! CreatorLens도 같은 원리.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</a:rPr>
              <a:t>Step 1.  </a:t>
            </a:r>
            <a:pPr indent="0" marL="0">
              <a:buNone/>
            </a:pPr>
            <a:r>
              <a:rPr lang="en-US" sz="1300" b="1" dirty="0">
                <a:solidFill>
                  <a:srgbClr val="E5E5E5"/>
                </a:solidFill>
              </a:rPr>
              <a:t>원래 값 확인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영상A: 조회수 100만  구독자 50만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영상B: 조회수  50만  구독자 30만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영상C: 조회수  10만  구독자 10만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</a:rPr>
              <a:t>Step 2.  </a:t>
            </a:r>
            <a:pPr indent="0" marL="0">
              <a:buNone/>
            </a:pPr>
            <a:r>
              <a:rPr lang="en-US" sz="1300" b="1" dirty="0">
                <a:solidFill>
                  <a:srgbClr val="E5E5E5"/>
                </a:solidFill>
              </a:rPr>
              <a:t>0~1 사이로 변환 (정규화)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공식:  (내 값 - 최솟값) / (최댓값 - 최솟값)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6634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8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영상A: 조회수 → 1.0   구독자 → 1.0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8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영상B: 조회수 → 0.44  구독자 → 0.50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8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영상C: 조회수 → 0.0   구독자 → 0.0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</a:rPr>
              <a:t>Step 3.  </a:t>
            </a:r>
            <a:pPr indent="0" marL="0">
              <a:buNone/>
            </a:pPr>
            <a:r>
              <a:rPr lang="en-US" sz="1300" b="1" dirty="0">
                <a:solidFill>
                  <a:srgbClr val="E5E5E5"/>
                </a:solidFill>
              </a:rPr>
              <a:t>합산 → 종합 점수!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01752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111111"/>
          </a:solidFill>
          <a:ln w="6350">
            <a:solidFill>
              <a:srgbClr val="2C2C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2004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AAAAA"/>
                </a:solidFill>
              </a:rPr>
              <a:t>영상A:  1.0 + 1.0 =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0B981"/>
                </a:solidFill>
              </a:rPr>
              <a:t>2.0점 🥇
</a:t>
            </a:r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AAAAA"/>
                </a:solidFill>
              </a:rPr>
              <a:t>영상B:  0.44 + 0.50 =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59E0B"/>
                </a:solidFill>
              </a:rPr>
              <a:t>0.94점 🥈
</a:t>
            </a:r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AAAAA"/>
                </a:solidFill>
              </a:rPr>
              <a:t>영상C:  0.0 + 0.0 =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F4444"/>
                </a:solidFill>
              </a:rPr>
              <a:t>0.0점 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51206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71207"/>
          </a:solidFill>
          <a:ln w="12700">
            <a:solidFill>
              <a:srgbClr val="5F4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51663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⚠️ 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9E0B"/>
                </a:solidFill>
              </a:rPr>
              <a:t>↓(낮은순)은 점수가 뒤집힘</a:t>
            </a:r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구독자↓ → 구독자가 적을수록 높은 점수 (소규모 채널 찾기용)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CreatorLens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7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실전 활용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이런 상황에서 다중 정렬을 쓰세요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212080" cy="2103120"/>
          </a:xfrm>
          <a:prstGeom prst="roundRect">
            <a:avLst>
              <a:gd name="adj" fmla="val 6522"/>
            </a:avLst>
          </a:prstGeom>
          <a:solidFill>
            <a:srgbClr val="1A1A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5E5"/>
                </a:solidFill>
              </a:rPr>
              <a:t>터진 영상 찾기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60120" y="2331720"/>
            <a:ext cx="4754880" cy="320040"/>
          </a:xfrm>
          <a:prstGeom prst="roundRect">
            <a:avLst>
              <a:gd name="adj" fmla="val 22857"/>
            </a:avLst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3317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F33"/>
                </a:solidFill>
              </a:rPr>
              <a:t>조합:  기여도 ↑ + 성과도 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8346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구독자 대비 조회수가 폭발적이고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참여율도 높은 영상을 찾습니다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212080" cy="2103120"/>
          </a:xfrm>
          <a:prstGeom prst="roundRect">
            <a:avLst>
              <a:gd name="adj" fmla="val 6522"/>
            </a:avLst>
          </a:prstGeom>
          <a:solidFill>
            <a:srgbClr val="1A1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0408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5E5"/>
                </a:solidFill>
              </a:rPr>
              <a:t>소규모 채널 대박 영상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46520" y="2331720"/>
            <a:ext cx="4754880" cy="320040"/>
          </a:xfrm>
          <a:prstGeom prst="roundRect">
            <a:avLst>
              <a:gd name="adj" fmla="val 22857"/>
            </a:avLst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3317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F33"/>
                </a:solidFill>
              </a:rPr>
              <a:t>조합:  조회수 ↑ + 구독자 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8346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조회수는 높지만 구독자는 적은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블루오션 키워드 발굴용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5212080" cy="2103120"/>
          </a:xfrm>
          <a:prstGeom prst="roundRect">
            <a:avLst>
              <a:gd name="adj" fmla="val 6522"/>
            </a:avLst>
          </a:prstGeom>
          <a:solidFill>
            <a:srgbClr val="1A1A1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55448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5E5"/>
                </a:solidFill>
              </a:rPr>
              <a:t>대형 채널 벤치마킹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60120" y="4800600"/>
            <a:ext cx="4754880" cy="320040"/>
          </a:xfrm>
          <a:prstGeom prst="roundRect">
            <a:avLst>
              <a:gd name="adj" fmla="val 22857"/>
            </a:avLst>
          </a:prstGeom>
          <a:solidFill>
            <a:srgbClr val="111111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800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F33"/>
                </a:solidFill>
              </a:rPr>
              <a:t>조합:  구독자 ↑ + 성과도 ↑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53035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구독자도 많고 성과도도 높은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TOP 크리에이터 콘텐츠 분석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023360"/>
            <a:ext cx="5212080" cy="2103120"/>
          </a:xfrm>
          <a:prstGeom prst="roundRect">
            <a:avLst>
              <a:gd name="adj" fmla="val 6522"/>
            </a:avLst>
          </a:prstGeom>
          <a:solidFill>
            <a:srgbClr val="1A1A1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04088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5E5"/>
                </a:solidFill>
              </a:rPr>
              <a:t>노출 가능성 높은 영상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46520" y="4800600"/>
            <a:ext cx="4754880" cy="320040"/>
          </a:xfrm>
          <a:prstGeom prst="roundRect">
            <a:avLst>
              <a:gd name="adj" fmla="val 22857"/>
            </a:avLst>
          </a:prstGeom>
          <a:solidFill>
            <a:srgbClr val="11111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4800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F33"/>
                </a:solidFill>
              </a:rPr>
              <a:t>조합:  노출확률 ↑ + 조회수 ↑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53035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내가 진입했을 때 노출될 확률이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</a:rPr>
              <a:t>높으면서 시장도 큰 키워드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CreatorLens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8 /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꿀팁 &amp; FAQ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알아두면 좋은 꿀팁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6350">
            <a:solidFill>
              <a:srgbClr val="2C2C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5E5"/>
                </a:solidFill>
              </a:rPr>
              <a:t>정렬 상태 자동 저장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다른 페이지 갔다 와도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정렬 상태가 그대로 유지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4630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6350">
            <a:solidFill>
              <a:srgbClr val="2C2C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♾️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5E5"/>
                </a:solidFill>
              </a:rPr>
              <a:t>무한 스크롤 + 정렬 유지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새 영상이 로드되어도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정렬 기준이 사라지지 않음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6350">
            <a:solidFill>
              <a:srgbClr val="2C2C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5E5"/>
                </a:solidFill>
              </a:rPr>
              <a:t>태그로 한눈에 확인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테이블 위 태그 바에서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현재 정렬 기준 즉시 확인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61120" y="146304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6350">
            <a:solidFill>
              <a:srgbClr val="2C2C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✕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0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5E5"/>
                </a:solidFill>
              </a:rPr>
              <a:t>개별 제거 가능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태그의 x 버튼으로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특정 기준만 제거 가능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5E5"/>
                </a:solidFill>
              </a:rPr>
              <a:t>자주 묻는 질문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3749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5E5E5"/>
                </a:solidFill>
              </a:rPr>
              <a:t>Q. 숫자 ①②가 우선순위인가요?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아닙니다. 클릭한 순서를 표시할 뿐, 모든 기준은 동등한 비중으로 합산됩니다.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462272"/>
            <a:ext cx="105156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5262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5E5E5"/>
                </a:solidFill>
              </a:rPr>
              <a:t>Q. 기준을 몇 개까지 추가할 수 있나요?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7가지 모두 가능하지만, 2~3개가 가장 실용적입니다.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5239512"/>
            <a:ext cx="105156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303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5E5E5"/>
                </a:solidFill>
              </a:rPr>
              <a:t>Q. 정렬 없으면 어떤 순서인가요?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YouTube API가 제공하는 검색 관련성 순서로 표시됩니다.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6016752"/>
            <a:ext cx="105156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60807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5E5E5"/>
                </a:solidFill>
              </a:rPr>
              <a:t>Q. 종합 점수가 동점이면?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</a:rPr>
              <a:t>종합 점수가 같은 영상끼리는 최신 게시일 순서로 정렬됩니다.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CreatorLens 다중 정렬 사용설명서</dc:title>
  <dc:subject>PptxGenJS Presentation</dc:subject>
  <dc:creator>CreatorLens</dc:creator>
  <cp:lastModifiedBy>CreatorLens</cp:lastModifiedBy>
  <cp:revision>1</cp:revision>
  <dcterms:created xsi:type="dcterms:W3CDTF">2026-02-24T11:44:12Z</dcterms:created>
  <dcterms:modified xsi:type="dcterms:W3CDTF">2026-02-24T11:44:12Z</dcterms:modified>
</cp:coreProperties>
</file>